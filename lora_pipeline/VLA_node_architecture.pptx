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algun Gothic"/>
              </a:rPr>
              <a:t>VLA 자율주행 시뮬레이션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9FC5E8"/>
                </a:solidFill>
                <a:latin typeface="Malgun Gothic"/>
              </a:rPr>
              <a:t>노드 구성 (ROS2 Dual-System Architecture)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D6E0"/>
                </a:solidFill>
                <a:latin typeface="Malgun Gothic"/>
              </a:rPr>
              <a:t>Fast(비전 차선주행)  +  Slow(Qwen3-VL 브레인)  +  안전계층(라이다/기하)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algun Gothic"/>
              </a:rPr>
              <a:t>전체 노드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CCDD"/>
                </a:solidFill>
                <a:latin typeface="Malgun Gothic"/>
              </a:rPr>
              <a:t>ROS2 토픽으로 연결된 노드 블록다이어그램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28800"/>
            <a:ext cx="1737360" cy="731520"/>
          </a:xfrm>
          <a:prstGeom prst="roundRect">
            <a:avLst/>
          </a:prstGeom>
          <a:solidFill>
            <a:srgbClr val="5555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📷 front_camera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Malgun Gothic"/>
              </a:rPr>
              <a:t>(gazebo)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3017520"/>
            <a:ext cx="1737360" cy="731520"/>
          </a:xfrm>
          <a:prstGeom prst="roundRect">
            <a:avLst/>
          </a:prstGeom>
          <a:solidFill>
            <a:srgbClr val="5555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📡 lidar /scan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Malgun Gothic"/>
              </a:rPr>
              <a:t>(전방장착)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206240"/>
            <a:ext cx="1737360" cy="731520"/>
          </a:xfrm>
          <a:prstGeom prst="roundRect">
            <a:avLst/>
          </a:prstGeom>
          <a:solidFill>
            <a:srgbClr val="5555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📐 /odom (p3d)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960120"/>
            <a:ext cx="3657600" cy="914400"/>
          </a:xfrm>
          <a:prstGeom prst="roundRect">
            <a:avLst/>
          </a:prstGeom>
          <a:solidFill>
            <a:srgbClr val="6A1B9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vla_brain_node  (Slow)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algun Gothic"/>
              </a:rPr>
              <a:t>Qwen3-VL-2B: 자연어해석 + 장면추론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5532120"/>
            <a:ext cx="3657600" cy="868680"/>
          </a:xfrm>
          <a:prstGeom prst="roundRect">
            <a:avLst/>
          </a:prstGeom>
          <a:solidFill>
            <a:srgbClr val="00839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vla_gui  (PySide6)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algun Gothic"/>
              </a:rPr>
              <a:t>자연어 입력 · 버튼 · 환경 스폰토글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2743200"/>
            <a:ext cx="4023360" cy="21945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222222"/>
                </a:solidFill>
                <a:latin typeface="Malgun Gothic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7889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565C0"/>
                </a:solidFill>
                <a:latin typeface="Malgun Gothic"/>
              </a:rPr>
              <a:t>vla_lora_drive_node  (Fast)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246120"/>
            <a:ext cx="3657600" cy="502920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비전 차선주행 (공간헤드 → WP → pure-pursuit)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822191"/>
            <a:ext cx="3657600" cy="457200"/>
          </a:xfrm>
          <a:prstGeom prst="roundRect">
            <a:avLst/>
          </a:prstGeom>
          <a:solidFill>
            <a:srgbClr val="E65A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라이다 전방정지·회피 (안전계층)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4334256"/>
            <a:ext cx="3657600" cy="45720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기하: 복구·목적지정지·직진·방향전환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49840" y="2743200"/>
            <a:ext cx="1737360" cy="777240"/>
          </a:xfrm>
          <a:prstGeom prst="roundRect">
            <a:avLst/>
          </a:prstGeom>
          <a:solidFill>
            <a:srgbClr val="5555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sim_sender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Malgun Gothic"/>
              </a:rPr>
              <a:t>MotionCmd→cmd_vel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49840" y="3840480"/>
            <a:ext cx="1737360" cy="777240"/>
          </a:xfrm>
          <a:prstGeom prst="roundRect">
            <a:avLst/>
          </a:prstGeom>
          <a:solidFill>
            <a:srgbClr val="1F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🚗 Gazebo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Malgun Gothic"/>
              </a:rPr>
              <a:t>차량/월드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011680" y="2194560"/>
            <a:ext cx="2103120" cy="1280160"/>
          </a:xfrm>
          <a:prstGeom prst="line">
            <a:avLst/>
          </a:prstGeom>
          <a:ln w="25400">
            <a:solidFill>
              <a:srgbClr val="1565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40280" y="2670047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  <a:latin typeface="Malgun Gothic"/>
              </a:rPr>
              <a:t>camera/image_raw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011680" y="3383280"/>
            <a:ext cx="2103120" cy="640080"/>
          </a:xfrm>
          <a:prstGeom prst="line">
            <a:avLst/>
          </a:prstGeom>
          <a:ln w="25400">
            <a:solidFill>
              <a:srgbClr val="E65A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240280" y="3538728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65A00"/>
                </a:solidFill>
                <a:latin typeface="Malgun Gothic"/>
              </a:rPr>
              <a:t>/scan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011680" y="4572000"/>
            <a:ext cx="210312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240280" y="4407408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555555"/>
                </a:solidFill>
                <a:latin typeface="Malgun Gothic"/>
              </a:rPr>
              <a:t>/odom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2011680" y="1371600"/>
            <a:ext cx="2286000" cy="731520"/>
          </a:xfrm>
          <a:prstGeom prst="line">
            <a:avLst/>
          </a:prstGeom>
          <a:ln w="25400">
            <a:solidFill>
              <a:srgbClr val="6A1B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331720" y="1572768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A1B9A"/>
                </a:solidFill>
                <a:latin typeface="Malgun Gothic"/>
              </a:rPr>
              <a:t>camera/image_raw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126480" y="1874519"/>
            <a:ext cx="0" cy="868681"/>
          </a:xfrm>
          <a:prstGeom prst="line">
            <a:avLst/>
          </a:prstGeom>
          <a:ln w="25400">
            <a:solidFill>
              <a:srgbClr val="6A1B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303520" y="2144268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A1B9A"/>
                </a:solidFill>
                <a:latin typeface="Malgun Gothic"/>
              </a:rPr>
              <a:t>/vla/command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6126480" y="4937760"/>
            <a:ext cx="0" cy="594360"/>
          </a:xfrm>
          <a:prstGeom prst="line">
            <a:avLst/>
          </a:prstGeom>
          <a:ln w="25400">
            <a:solidFill>
              <a:srgbClr val="0083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303520" y="5070348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08397"/>
                </a:solidFill>
                <a:latin typeface="Malgun Gothic"/>
              </a:rPr>
              <a:t>/nl_command·/vla/command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8138160" y="3108960"/>
            <a:ext cx="2011680" cy="548640"/>
          </a:xfrm>
          <a:prstGeom prst="line">
            <a:avLst/>
          </a:prstGeom>
          <a:ln w="25400">
            <a:solidFill>
              <a:srgbClr val="1565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321040" y="3218688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  <a:latin typeface="Malgun Gothic"/>
              </a:rPr>
              <a:t>/topic_control_signal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1018520" y="3520440"/>
            <a:ext cx="0" cy="32004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74320" y="630936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algun Gothic"/>
              </a:rPr>
              <a:t>※ Fast=실시간 비전주행, Slow=Qwen 언어·장면(1.5Hz). 신뢰성 필요한 매핑은 결정론적 코드로 처리.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algun Gothic"/>
              </a:rPr>
              <a:t>노드별 역할 · 토픽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51560"/>
          <a:ext cx="116128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023360"/>
                <a:gridCol w="2743200"/>
                <a:gridCol w="2468880"/>
              </a:tblGrid>
              <a:tr h="82296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algun Gothic"/>
                        </a:rPr>
                        <a:t>노드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algun Gothic"/>
                        </a:rPr>
                        <a:t>역할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algun Gothic"/>
                        </a:rPr>
                        <a:t>구독(in)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algun Gothic"/>
                        </a:rPr>
                        <a:t>발행(out)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65C0"/>
                          </a:solidFill>
                          <a:latin typeface="Malgun Gothic"/>
                        </a:rPr>
                        <a:t>vla_lora_drive_node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Malgun Gothic"/>
                        </a:rPr>
                        <a:t>비전 차선주행 + 라이다정지/회피 + 기하(복구/목적지정지/직진)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Malgun Gothic"/>
                        </a:rPr>
                        <a:t>camera/image_raw, /scan, /odom, /vla/command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Malgun Gothic"/>
                        </a:rPr>
                        <a:t>/topic_control_signal, /vla/cur_lane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65C0"/>
                          </a:solidFill>
                          <a:latin typeface="Malgun Gothic"/>
                        </a:rPr>
                        <a:t>vla_brain_node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Malgun Gothic"/>
                        </a:rPr>
                        <a:t>자연어→표준명령 해석, 카메라 장면추론(빨간불/장애물)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Malgun Gothic"/>
                        </a:rPr>
                        <a:t>camera/image_raw, /nl_command, /vla/cur_lane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Malgun Gothic"/>
                        </a:rPr>
                        <a:t>/vla/command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65C0"/>
                          </a:solidFill>
                          <a:latin typeface="Malgun Gothic"/>
                        </a:rPr>
                        <a:t>vla_gui (PySide6)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Malgun Gothic"/>
                        </a:rPr>
                        <a:t>명령 입력 GUI, 빠른버튼, 환경 스폰토글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Malgun Gothic"/>
                        </a:rPr>
                        <a:t>/vla/command(echo)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Malgun Gothic"/>
                        </a:rPr>
                        <a:t>/nl_command, /vla/command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65C0"/>
                          </a:solidFill>
                          <a:latin typeface="Malgun Gothic"/>
                        </a:rPr>
                        <a:t>simulation_sender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Malgun Gothic"/>
                        </a:rPr>
                        <a:t>MotionCommand → cmd_vel(아커만) 변환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Malgun Gothic"/>
                        </a:rPr>
                        <a:t>/topic_control_signal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Malgun Gothic"/>
                        </a:rPr>
                        <a:t>/cmd_vel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65C0"/>
                          </a:solidFill>
                          <a:latin typeface="Malgun Gothic"/>
                        </a:rPr>
                        <a:t>gazebo + p3d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Malgun Gothic"/>
                        </a:rPr>
                        <a:t>물리/렌더, 차량·카메라·라이다·odom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Malgun Gothic"/>
                        </a:rPr>
                        <a:t>/cmd_vel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Malgun Gothic"/>
                        </a:rPr>
                        <a:t>camera, /scan, /odom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algun Gothic"/>
              </a:rPr>
              <a:t>Fast: 이미지 → 웨이포인트 → 조향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CCDD"/>
                </a:solidFill>
                <a:latin typeface="Malgun Gothic"/>
              </a:rPr>
              <a:t>vla_lora_drive_node 내부 파이프라인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2286000"/>
            <a:ext cx="1783080" cy="1371600"/>
          </a:xfrm>
          <a:prstGeom prst="roundRect">
            <a:avLst/>
          </a:prstGeom>
          <a:solidFill>
            <a:srgbClr val="5555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📷 카메라 BGR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Malgun Gothic"/>
              </a:rPr>
              <a:t>320×240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03120" y="2971800"/>
            <a:ext cx="164592" cy="0"/>
          </a:xfrm>
          <a:prstGeom prst="line">
            <a:avLst/>
          </a:prstGeom>
          <a:ln w="381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267712" y="2286000"/>
            <a:ext cx="1783080" cy="1371600"/>
          </a:xfrm>
          <a:prstGeom prst="roundRect">
            <a:avLst/>
          </a:prstGeom>
          <a:solidFill>
            <a:srgbClr val="6A1B9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Qwen3-VL 비전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Malgun Gothic"/>
              </a:rPr>
              <a:t>토큰 (70,2048)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Malgun Gothic"/>
              </a:rPr>
              <a:t>=7×10 공간그리드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50791" y="2971800"/>
            <a:ext cx="164592" cy="0"/>
          </a:xfrm>
          <a:prstGeom prst="line">
            <a:avLst/>
          </a:prstGeom>
          <a:ln w="381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215383" y="2286000"/>
            <a:ext cx="1783080" cy="1371600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공간보존 Head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Malgun Gothic"/>
              </a:rPr>
              <a:t>풀링X·위치유지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Malgun Gothic"/>
              </a:rPr>
              <a:t>FiLM(차선)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98464" y="2971800"/>
            <a:ext cx="164591" cy="0"/>
          </a:xfrm>
          <a:prstGeom prst="line">
            <a:avLst/>
          </a:prstGeom>
          <a:ln w="381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163055" y="2286000"/>
            <a:ext cx="1783080" cy="137160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6 웨이포인트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Malgun Gothic"/>
              </a:rPr>
              <a:t>ego (ex,ey)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Malgun Gothic"/>
              </a:rPr>
              <a:t>×5.0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46136" y="2971800"/>
            <a:ext cx="164591" cy="0"/>
          </a:xfrm>
          <a:prstGeom prst="line">
            <a:avLst/>
          </a:prstGeom>
          <a:ln w="381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110727" y="2286000"/>
            <a:ext cx="1783080" cy="1371600"/>
          </a:xfrm>
          <a:prstGeom prst="roundRect">
            <a:avLst/>
          </a:prstGeom>
          <a:solidFill>
            <a:srgbClr val="E65A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pure-pursuit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Malgun Gothic"/>
              </a:rPr>
              <a:t>he=atan2(ey,ex)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Malgun Gothic"/>
              </a:rPr>
              <a:t>steer=-he·13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893807" y="2971800"/>
            <a:ext cx="164593" cy="0"/>
          </a:xfrm>
          <a:prstGeom prst="line">
            <a:avLst/>
          </a:prstGeom>
          <a:ln w="381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058400" y="2286000"/>
            <a:ext cx="1783080" cy="1371600"/>
          </a:xfrm>
          <a:prstGeom prst="roundRect">
            <a:avLst/>
          </a:prstGeom>
          <a:solidFill>
            <a:srgbClr val="1F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🚗 조향/속도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Malgun Gothic"/>
              </a:rPr>
              <a:t>MotionCommand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023360"/>
            <a:ext cx="11521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Malgun Gothic"/>
              </a:rPr>
              <a:t>핵심: ★mean-pool 제거 → 토큰의 공간배치(가로=차선 좌우위치)를 헤드까지 전달★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algun Gothic"/>
              </a:rPr>
              <a:t>   → 직선에서 횡오차를 WP에 반영 → 차선유지 중앙 0.08~0.10m (이전 mean-pool은 3m 이탈).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algun Gothic"/>
              </a:rPr>
              <a:t/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algun Gothic"/>
              </a:rPr>
              <a:t>학습: 비전 동결 + 헤드만 학습(9초/에폭). 라벨 = 차를 차선에 ±오프셋/헤딩변형 텔레포트→이미지 캡처→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algun Gothic"/>
              </a:rPr>
              <a:t>   미래 중앙선점 6개를 ego좌표 투영. (오프셋 흔들어 '복귀 WP'까지 학습 → off-center 복구)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algun Gothic"/>
              </a:rPr>
              <a:t>   wpMAE 0.56(mean-pool) → 0.284(공간헤드+양방향). 모델은 *경로*만 예측, 조향은 기하로 계산.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algun Gothic"/>
              </a:rPr>
              <a:t>Slow 브레인 · 안전/보조 계층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143000"/>
            <a:ext cx="5669280" cy="246888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222222"/>
                </a:solidFill>
                <a:latin typeface="Malgun Gothic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A1B9A"/>
                </a:solidFill>
                <a:latin typeface="Malgun Gothic"/>
              </a:rPr>
              <a:t>vla_brain_node (Qwen3-VL-2B, 제로샷)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5349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Malgun Gothic"/>
              </a:rPr>
              <a:t>• 자연어 해석: 자유언어→LANE/ACT/LAPS/STOP_AT (한·영)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algun Gothic"/>
              </a:rPr>
              <a:t>• 장면추론(1.5Hz): 빨간불→일시정지/초록→재개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algun Gothic"/>
              </a:rPr>
              <a:t>• 결정론적 보정: 'and stop'=1바퀴, forever=무한,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algun Gothic"/>
              </a:rPr>
              <a:t>   랜드마크+정지/직진은 원문 직통(2B 흔들림 회피)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algun Gothic"/>
              </a:rPr>
              <a:t>• 장애물 회피는 라이다에 위임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143000"/>
            <a:ext cx="5669280" cy="24688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222222"/>
                </a:solidFill>
                <a:latin typeface="Malgun Gothic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20700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65A00"/>
                </a:solidFill>
                <a:latin typeface="Malgun Gothic"/>
              </a:rPr>
              <a:t>라이다 안전계층 (전방장착·결정론)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691640"/>
            <a:ext cx="5349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Malgun Gothic"/>
              </a:rPr>
              <a:t>• SDF 전방 이식(gravity=0+COM원점, 날아감 방지)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algun Gothic"/>
              </a:rPr>
              <a:t>• 전방=스캔268° 보정 (차체가림 후방 43~136°)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algun Gothic"/>
              </a:rPr>
              <a:t>• 전방 2.5m 비상정지(조향유지)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algun Gothic"/>
              </a:rPr>
              <a:t>• 6m서 옆차선 클리어 확인→1회 회피변경, 양쪽막힘→정지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840480"/>
            <a:ext cx="11521440" cy="23774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222222"/>
                </a:solidFill>
                <a:latin typeface="Malgun Gothic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04487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7D32"/>
                </a:solidFill>
                <a:latin typeface="Malgun Gothic"/>
              </a:rPr>
              <a:t>기하/보조 (vla_lora_drive_node 내, odom 기반)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389120"/>
            <a:ext cx="11155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Malgun Gothic"/>
              </a:rPr>
              <a:t>• 복구: 가장 가까운 차선에 지정 방향으로 텔레포트 스냅 (아커만 U턴 불가 → 방향전환도 이걸로)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algun Gothic"/>
              </a:rPr>
              <a:t>• 양방향: ddir(기본 정방향 CCW), 역방향 데이터 생성+재학습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algun Gothic"/>
              </a:rPr>
              <a:t>• 목적지 정지: '횡단보도에서 정지' → 그 차선 주행하다 랜드마크 최근접점서 정지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algun Gothic"/>
              </a:rPr>
              <a:t>• 직진(차선무시): '신호등으로 직진' → 차선 무시하고 랜드마크 좌표로 직선주행 후 정지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algun Gothic"/>
              </a:rPr>
              <a:t>• [미완] 주차: 사람 시연녹화 확보, 자율재생은 다음 과제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